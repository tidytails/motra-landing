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0066FF"/>
                </a:solidFill>
              </a:defRPr>
            </a:pPr>
            <a:r>
              <a:t>MOTRA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66666"/>
                </a:solidFill>
              </a:defRPr>
            </a:pPr>
            <a:r>
              <a:t>AUTONOMY, MAINTAINED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01 / COMPANY PURPOSE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FF"/>
                </a:solidFill>
              </a:defRPr>
            </a:pPr>
            <a:r>
              <a:t>Company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The infrastructure layer for AV fleet 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</a:defRPr>
            </a:pPr>
            <a:r>
              <a:t>MOTRA is the infrastructure layer for autonomous vehicle fleet care.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We deploy a gig-powered network of mobile technicians to clean and service robotaxis on-location, on-demand — keeping fleets running 24/7.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572000"/>
            <a:ext cx="10972800" cy="914400"/>
          </a:xfrm>
          <a:prstGeom prst="roundRect">
            <a:avLst/>
          </a:prstGeom>
          <a:solidFill>
            <a:srgbClr val="0066FF">
              <a:lumMod val="15000"/>
              <a:lumOff val="85000"/>
            </a:srgbClr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Think DoorDash for fleet maintenance — invisible, essential, everywhere.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02 /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FF"/>
                </a:solidFill>
              </a:defRPr>
            </a:pPr>
            <a: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The maintenance bottleneck.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</a:defRPr>
            </a:pPr>
            <a:r>
              <a:t>Robotaxis run 15+ hours a day. Their maintenance infrastructure doesn't.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No driver = no eyes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46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Nobody notices trash, spills, or wear between rides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49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49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Depot-dependent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69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Vehicles must return to facilities for basic cleaning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72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720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Downtime = lost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92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Every minute in depot is a ride not taken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949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394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Sensors are critical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7150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Dirty LiDAR/cameras = degraded driving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2926080"/>
            <a:ext cx="5029200" cy="2286000"/>
          </a:xfrm>
          <a:prstGeom prst="round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108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C2626"/>
                </a:solidFill>
              </a:defRPr>
            </a:pPr>
            <a:r>
              <a:t>Current Reality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56616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Waymo uses 1,000+ Transdev operators at centralized depots.</a:t>
            </a:r>
            <a:br/>
            <a:br/>
            <a:r>
              <a:t>That doesn't scale to 1 million rides/week.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03 /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FF"/>
                </a:solidFill>
              </a:defRPr>
            </a:pPr>
            <a: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Mobile fleet care on demand.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</a:defRPr>
            </a:pPr>
            <a:r>
              <a:t>Mobile fleet care, dispatched like an Uber.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</a:defRPr>
            </a:pPr>
            <a:r>
              <a:t>MOTRA deploys certified technicians directly to vehicles — wherever they are.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474720"/>
            <a:ext cx="3474720" cy="1828800"/>
          </a:xfrm>
          <a:prstGeom prst="roundRect">
            <a:avLst/>
          </a:prstGeom>
          <a:solidFill>
            <a:srgbClr val="1E1E1E"/>
          </a:solidFill>
          <a:ln>
            <a:solidFill>
              <a:srgbClr val="32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657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Quick Clean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66FF"/>
                </a:solidFill>
              </a:defRPr>
            </a:pPr>
            <a:r>
              <a:t>$12-18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63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5-10 min wipe-down, trash, odor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3474720"/>
            <a:ext cx="3474720" cy="1828800"/>
          </a:xfrm>
          <a:prstGeom prst="roundRect">
            <a:avLst/>
          </a:prstGeom>
          <a:solidFill>
            <a:srgbClr val="1E1E1E"/>
          </a:solidFill>
          <a:ln>
            <a:solidFill>
              <a:srgbClr val="32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3657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Deep Clean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114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66FF"/>
                </a:solidFill>
              </a:defRPr>
            </a:pPr>
            <a:r>
              <a:t>$45-75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663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Full interior detail, sensors, exterior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3474720"/>
            <a:ext cx="3474720" cy="1828800"/>
          </a:xfrm>
          <a:prstGeom prst="roundRect">
            <a:avLst/>
          </a:prstGeom>
          <a:solidFill>
            <a:srgbClr val="1E1E1E"/>
          </a:solidFill>
          <a:ln>
            <a:solidFill>
              <a:srgbClr val="32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59" y="3657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Emergency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59" y="4114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66FF"/>
                </a:solidFill>
              </a:defRPr>
            </a:pPr>
            <a:r>
              <a:t>$75-150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4663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On-demand response for incidents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04 / 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FF"/>
                </a:solidFill>
              </a:defRPr>
            </a:pPr>
            <a:r>
              <a:t>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Escape velocity.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</a:defRPr>
            </a:pPr>
            <a:r>
              <a:t>The robotaxi industry just hit escape velocity.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43200"/>
            <a:ext cx="2286000" cy="1097280"/>
          </a:xfrm>
          <a:prstGeom prst="roundRect">
            <a:avLst/>
          </a:prstGeom>
          <a:solidFill>
            <a:srgbClr val="0066FF">
              <a:lumMod val="15000"/>
              <a:lumOff val="85000"/>
            </a:srgbClr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400K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83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Rides/Week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2743200"/>
            <a:ext cx="2286000" cy="1097280"/>
          </a:xfrm>
          <a:prstGeom prst="roundRect">
            <a:avLst/>
          </a:prstGeom>
          <a:solidFill>
            <a:srgbClr val="0066FF">
              <a:lumMod val="15000"/>
              <a:lumOff val="85000"/>
            </a:srgbClr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28346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383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US Markets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2743200"/>
            <a:ext cx="2286000" cy="1097280"/>
          </a:xfrm>
          <a:prstGeom prst="roundRect">
            <a:avLst/>
          </a:prstGeom>
          <a:solidFill>
            <a:srgbClr val="0066FF">
              <a:lumMod val="15000"/>
              <a:lumOff val="85000"/>
            </a:srgbClr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28346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$16B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383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Fresh Funding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2743200"/>
            <a:ext cx="2286000" cy="1097280"/>
          </a:xfrm>
          <a:prstGeom prst="roundRect">
            <a:avLst/>
          </a:prstGeom>
          <a:solidFill>
            <a:srgbClr val="0066FF">
              <a:lumMod val="15000"/>
              <a:lumOff val="85000"/>
            </a:srgbClr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0" y="28346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$126B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3383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Valuation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14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</a:defRPr>
            </a:pPr>
            <a:r>
              <a:t>Metric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4114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</a:defRPr>
            </a:pPr>
            <a:r>
              <a:t>Now (Feb 2026)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1148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</a:defRPr>
            </a:pPr>
            <a:r>
              <a:t>EOY 2026 Target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Weekly Rides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480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400,000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480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1,000,000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920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Markets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48920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10 cities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20+ cities (incl. London, Tokyo)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303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Fleet Size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5303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2,500 vehicles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303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4,500+ vehicles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715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Price War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5715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Waymo $8.17 vs Uber $17.25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150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Volume exploding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2179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</a:defRPr>
            </a:pPr>
            <a:r>
              <a:t>Sources: TechXplore Feb 24 2026, Fox News Feb 27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05 / MARKET SIZE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FF"/>
                </a:solidFill>
              </a:defRPr>
            </a:pPr>
            <a:r>
              <a:t>Market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 $147B opportunity.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</a:defRPr>
            </a:pPr>
            <a:r>
              <a:t>Robotaxi market: 99% CAGR through 2033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43200"/>
            <a:ext cx="2286000" cy="1097280"/>
          </a:xfrm>
          <a:prstGeom prst="roundRect">
            <a:avLst/>
          </a:prstGeom>
          <a:solidFill>
            <a:srgbClr val="0066FF">
              <a:lumMod val="15000"/>
              <a:lumOff val="85000"/>
            </a:srgbClr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$2.7B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83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2025 TAM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2743200"/>
            <a:ext cx="2286000" cy="1097280"/>
          </a:xfrm>
          <a:prstGeom prst="roundRect">
            <a:avLst/>
          </a:prstGeom>
          <a:solidFill>
            <a:srgbClr val="0066FF">
              <a:lumMod val="15000"/>
              <a:lumOff val="85000"/>
            </a:srgbClr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8346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$147B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383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2033 TAM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743200"/>
            <a:ext cx="2286000" cy="1097280"/>
          </a:xfrm>
          <a:prstGeom prst="roundRect">
            <a:avLst/>
          </a:prstGeom>
          <a:solidFill>
            <a:srgbClr val="0066FF">
              <a:lumMod val="15000"/>
              <a:lumOff val="85000"/>
            </a:srgbClr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28346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99%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383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CAGR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06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66FF"/>
                </a:solidFill>
              </a:defRPr>
            </a:pPr>
            <a:r>
              <a:t>MOTRA's Serviceable Market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2028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6634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FF"/>
                </a:solidFill>
              </a:defRPr>
            </a:pPr>
            <a:r>
              <a:t>$547M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46634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50K robotaxis × $30/week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0749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2030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074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FF"/>
                </a:solidFill>
              </a:defRPr>
            </a:pPr>
            <a:r>
              <a:t>$2.2B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50749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200K robotaxis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2032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486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FF"/>
                </a:solidFill>
              </a:defRPr>
            </a:pPr>
            <a:r>
              <a:t>$5.5B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48640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500K robotaxis + commercial EVs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06 /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FF"/>
                </a:solidFill>
              </a:defRPr>
            </a:pPr>
            <a:r>
              <a:t>Competition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Our competitive 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</a:defRPr>
            </a:pPr>
            <a:r>
              <a:t>Competitors are emerging. We have the edge.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</a:defRPr>
            </a:pPr>
            <a:r>
              <a:t>Player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743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</a:defRPr>
            </a:pPr>
            <a:r>
              <a:t>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743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</a:defRPr>
            </a:pPr>
            <a:r>
              <a:t>Limitation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Uber AV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200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Depot-based cleaning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200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C2626"/>
                </a:solidFill>
              </a:defRPr>
            </a:pPr>
            <a:r>
              <a:t>Competitor to Waymo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03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Transdev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1,000+ operators at depots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C2626"/>
                </a:solidFill>
              </a:defRPr>
            </a:pPr>
            <a:r>
              <a:t>Depot-bound, not mobile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06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Tesla Robots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206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Automated cleaning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206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C2626"/>
                </a:solidFill>
              </a:defRPr>
            </a:pPr>
            <a:r>
              <a:t>Years away, Tesla-only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70915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In-House 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470915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AV companies DIY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70915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C2626"/>
                </a:solidFill>
              </a:defRPr>
            </a:pPr>
            <a:r>
              <a:t>High fixed cost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303520"/>
            <a:ext cx="10972800" cy="914400"/>
          </a:xfrm>
          <a:prstGeom prst="roundRect">
            <a:avLst/>
          </a:prstGeom>
          <a:solidFill>
            <a:srgbClr val="16A34A">
              <a:lumMod val="15000"/>
              <a:lumOff val="85000"/>
            </a:srgbClr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4864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MOTRA Advantage: Neutral platform (Switzerland) · Mobile-first · 100% focused on AV fleet care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07 / WHY NOT IN-HOUSE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FF"/>
                </a:solidFill>
              </a:defRPr>
            </a:pPr>
            <a:r>
              <a:t>Why Not In-House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The outsourcing thesis.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</a:defRPr>
            </a:pPr>
            <a:r>
              <a:t>Why won't Waymo just do this themselves?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926080"/>
            <a:ext cx="3474720" cy="2103120"/>
          </a:xfrm>
          <a:prstGeom prst="roundRect">
            <a:avLst/>
          </a:prstGeom>
          <a:solidFill>
            <a:srgbClr val="1E1E1E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FF"/>
                </a:solidFill>
              </a:defRPr>
            </a:pPr>
            <a:r>
              <a:t>1. They Already Outsource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Waymo uses Transdev, Moove, Avis, TechForce, Amerit, Terawatt today. Build vs. buy = they buy.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2926080"/>
            <a:ext cx="3474720" cy="2103120"/>
          </a:xfrm>
          <a:prstGeom prst="roundRect">
            <a:avLst/>
          </a:prstGeom>
          <a:solidFill>
            <a:srgbClr val="1E1E1E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3108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FF"/>
                </a:solidFill>
              </a:defRPr>
            </a:pPr>
            <a:r>
              <a:t>2. Not Core Competency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56616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Waymo's edge is autonomous driving AI. Every $ on cleaning = $ not on AI.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926080"/>
            <a:ext cx="3474720" cy="2103120"/>
          </a:xfrm>
          <a:prstGeom prst="roundRect">
            <a:avLst/>
          </a:prstGeom>
          <a:solidFill>
            <a:srgbClr val="1E1E1E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59" y="3108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FF"/>
                </a:solidFill>
              </a:defRPr>
            </a:pPr>
            <a:r>
              <a:t>3. Math Doesn't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356616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20+ cities = thousands of employees, facilities, HR. Gig model = variable cost.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03520"/>
            <a:ext cx="10972800" cy="914400"/>
          </a:xfrm>
          <a:prstGeom prst="roundRect">
            <a:avLst/>
          </a:prstGeom>
          <a:solidFill>
            <a:srgbClr val="0066FF">
              <a:lumMod val="15000"/>
              <a:lumOff val="85000"/>
            </a:srgbClr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4864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Uber just validated this. If big players could do it better in-house, they wouldn't be building outsourced solutions.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08 / DEFENSIBILITY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FF"/>
                </a:solidFill>
              </a:defRPr>
            </a:pPr>
            <a:r>
              <a:t>Defensibility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Our moat.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</a:defRPr>
            </a:pPr>
            <a:r>
              <a:t>Three layers of defensibility.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926080"/>
            <a:ext cx="3474720" cy="2560320"/>
          </a:xfrm>
          <a:prstGeom prst="roundRect">
            <a:avLst/>
          </a:prstGeom>
          <a:solidFill>
            <a:srgbClr val="1E1E1E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66FF"/>
                </a:solidFill>
              </a:defRPr>
            </a:pPr>
            <a:r>
              <a:t>Year 1-2: Network Effects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576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• First AV-specialized gig network per city</a:t>
            </a:r>
            <a:br/>
            <a:r>
              <a:t>• Hyperlocal network effects</a:t>
            </a:r>
            <a:br/>
            <a:r>
              <a:t>• More techs → faster response → more volume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2926080"/>
            <a:ext cx="3474720" cy="2560320"/>
          </a:xfrm>
          <a:prstGeom prst="roundRect">
            <a:avLst/>
          </a:prstGeom>
          <a:solidFill>
            <a:srgbClr val="1E1E1E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31089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66FF"/>
                </a:solidFill>
              </a:defRPr>
            </a:pPr>
            <a:r>
              <a:t>Year 2-3: Data Advantage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6576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• Every service = data on times, issues, vehicles</a:t>
            </a:r>
            <a:br/>
            <a:r>
              <a:t>• Predictive maintenance insights</a:t>
            </a:r>
            <a:br/>
            <a:r>
              <a:t>• DoorDash has 30% of eng in data roles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926080"/>
            <a:ext cx="3474720" cy="2560320"/>
          </a:xfrm>
          <a:prstGeom prst="roundRect">
            <a:avLst/>
          </a:prstGeom>
          <a:solidFill>
            <a:srgbClr val="1E1E1E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59" y="31089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66FF"/>
                </a:solidFill>
              </a:defRPr>
            </a:pPr>
            <a:r>
              <a:t>Year 3+: Integration Lock-In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36576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• API embedded in fleet management</a:t>
            </a:r>
            <a:br/>
            <a:r>
              <a:t>• Part of operator workflows</a:t>
            </a:r>
            <a:br/>
            <a:r>
              <a:t>• 5% retention = 25-95% profit increase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</a:defRPr>
            </a:pPr>
            <a:r>
              <a:t>The Uber analogy: Uber's moat isn't the app — it's the network of drivers in every city.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09 /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FF"/>
                </a:solidFill>
              </a:defRPr>
            </a:pPr>
            <a:r>
              <a:t>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Leadership.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</a:defRPr>
            </a:pPr>
            <a:r>
              <a:t>15 years at Boeing. 2 patents. Built to scale.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926080"/>
            <a:ext cx="5029200" cy="3200400"/>
          </a:xfrm>
          <a:prstGeom prst="roundRect">
            <a:avLst/>
          </a:prstGeom>
          <a:solidFill>
            <a:srgbClr val="1E1E1E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Adonis Williams — Founder &amp; CEO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Current Role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3657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Deputy Functional Chief Engineer, Boeing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233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Tenure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4023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14 years 8 months at Boeing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Patents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4389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2 patents (cybersecurity, blockchain comms)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548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Education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47548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MS Systems Engineering, Missouri S&amp;T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206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Experience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5120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Distributed teams, USAF pilot tests, cyber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2926080"/>
            <a:ext cx="5486400" cy="3200400"/>
          </a:xfrm>
          <a:prstGeom prst="roundRect">
            <a:avLst/>
          </a:prstGeom>
          <a:solidFill>
            <a:srgbClr val="14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3108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66FF"/>
                </a:solidFill>
              </a:defRPr>
            </a:pPr>
            <a:r>
              <a:t>Why Adonis Wins This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5661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MOTRA is a systems problem: coordinating a distributed workforce to service safety-critical autonomous vehicles.</a:t>
            </a:r>
            <a:br/>
            <a:br/>
            <a:r>
              <a:t>That's exactly what he's been doing at Boeing for 15 years — applied to mobility instead of aviation.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512064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6A34A"/>
                </a:solidFill>
              </a:defRPr>
            </a:pPr>
            <a:r>
              <a:t>✓ Complex operations at scale</a:t>
            </a:r>
            <a:br/>
            <a:r>
              <a:t>✓ Distributed teams across geographies</a:t>
            </a:r>
            <a:br/>
            <a:r>
              <a:t>✓ Safety-critical systems</a:t>
            </a:r>
            <a:br/>
            <a:r>
              <a:t>✓ Innovation track record (2 patents)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10 / RISK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FF"/>
                </a:solidFill>
              </a:defRPr>
            </a:pPr>
            <a:r>
              <a:t>Risk Mitigation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De-risked.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</a:defRPr>
            </a:pPr>
            <a:r>
              <a:t>What if the AV market slows down?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926080"/>
            <a:ext cx="5029200" cy="1371600"/>
          </a:xfrm>
          <a:prstGeom prst="roundRect">
            <a:avLst/>
          </a:prstGeom>
          <a:solidFill>
            <a:srgbClr val="321E1E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2626"/>
                </a:solidFill>
              </a:defRPr>
            </a:pPr>
            <a:r>
              <a:t>The 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Robotaxi adoption could hit regulatory delays, technical hurdles, or economic headwinds.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926080"/>
            <a:ext cx="5486400" cy="1371600"/>
          </a:xfrm>
          <a:prstGeom prst="roundRect">
            <a:avLst/>
          </a:prstGeom>
          <a:solidFill>
            <a:srgbClr val="1E321E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3108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A34A"/>
                </a:solidFill>
              </a:defRPr>
            </a:pPr>
            <a:r>
              <a:t>Adjacent Markets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566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Even if AV slows, 250K+ commercial EVs need regular cleaning and maintenance.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72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</a:defRPr>
            </a:pPr>
            <a:r>
              <a:t>Fleet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572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</a:defRPr>
            </a:pPr>
            <a:r>
              <a:t>Current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4572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FF"/>
                </a:solidFill>
              </a:defRPr>
            </a:pPr>
            <a:r>
              <a:t>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9377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Amazon (Rivian)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937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30,000 EVs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4937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100,000 by 2030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349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FedEx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5349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200,000+ vehicles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5349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All-electric by 2040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760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UPS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5760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18,300+ alt-fuel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5760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10,000 more ordered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6A34A"/>
                </a:solidFill>
              </a:defRPr>
            </a:pPr>
            <a:r>
              <a:t>MOTRA has multiple paths to scale. Robotaxis are the beachhead — commercial EVs are the expansion.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11 / 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FF"/>
                </a:solidFill>
              </a:defRPr>
            </a:pPr>
            <a:r>
              <a:t>Go-To-Market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First customers.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</a:defRPr>
            </a:pPr>
            <a:r>
              <a:t>The DoorDash playbook: do things that don't scale.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926080"/>
            <a:ext cx="3474720" cy="2560320"/>
          </a:xfrm>
          <a:prstGeom prst="roundRect">
            <a:avLst/>
          </a:prstGeom>
          <a:solidFill>
            <a:srgbClr val="1E1E1E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FF"/>
                </a:solidFill>
              </a:defRPr>
            </a:pPr>
            <a:r>
              <a:t>Phase 1: Manual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204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Month 1-3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• ONE operator, ONE city</a:t>
            </a:r>
            <a:br/>
            <a:r>
              <a:t>• Free 30-day pilot, 50 vehicles</a:t>
            </a:r>
            <a:br/>
            <a:r>
              <a:t>• Text dispatch, Google Sheets</a:t>
            </a:r>
            <a:br/>
            <a:r>
              <a:t>• We ARE the operators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2926080"/>
            <a:ext cx="3474720" cy="2560320"/>
          </a:xfrm>
          <a:prstGeom prst="roundRect">
            <a:avLst/>
          </a:prstGeom>
          <a:solidFill>
            <a:srgbClr val="1E1E1E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108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FF"/>
                </a:solidFill>
              </a:defRPr>
            </a:pPr>
            <a:r>
              <a:t>Phase 2: Paid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204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Month 4-6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84048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• Convert to paid</a:t>
            </a:r>
            <a:br/>
            <a:r>
              <a:t>• Price 20% below Transdev</a:t>
            </a:r>
            <a:br/>
            <a:r>
              <a:t>• 6-month commitment</a:t>
            </a:r>
            <a:br/>
            <a:r>
              <a:t>• Build reference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2926080"/>
            <a:ext cx="3474720" cy="2560320"/>
          </a:xfrm>
          <a:prstGeom prst="roundRect">
            <a:avLst/>
          </a:prstGeom>
          <a:solidFill>
            <a:srgbClr val="1E1E1E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59" y="3108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FF"/>
                </a:solidFill>
              </a:defRPr>
            </a:pPr>
            <a:r>
              <a:t>Phase 3: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59" y="35204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Month 7-12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59" y="384048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• Add second city</a:t>
            </a:r>
            <a:br/>
            <a:r>
              <a:t>• Launch MVP app</a:t>
            </a:r>
            <a:br/>
            <a:r>
              <a:t>• Use first customer as ref</a:t>
            </a:r>
            <a:br/>
            <a:r>
              <a:t>• Target $100K MRR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Warm intros = 3-5x better close rate. We're not asking them to trust an app — we're asking them to try a service.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12 / 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FF"/>
                </a:solidFill>
              </a:defRPr>
            </a:pPr>
            <a: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Unit economics.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</a:defRPr>
            </a:pPr>
            <a:r>
              <a:t>Platform take-rate on every service.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Avg service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FF"/>
                </a:solidFill>
              </a:defRPr>
            </a:pPr>
            <a:r>
              <a:t>$15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83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Tech payout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383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FF"/>
                </a:solidFill>
              </a:defRPr>
            </a:pPr>
            <a:r>
              <a:t>$10-11 (65-70%)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Platform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840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FF"/>
                </a:solidFill>
              </a:defRPr>
            </a:pPr>
            <a:r>
              <a:t>$4-5 (27-33%)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97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Services/tech/day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297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FF"/>
                </a:solidFill>
              </a:defRPr>
            </a:pPr>
            <a:r>
              <a:t>15-20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54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Tech daily earnings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47548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FF"/>
                </a:solidFill>
              </a:defRPr>
            </a:pPr>
            <a:r>
              <a:t>$150-220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2926080"/>
            <a:ext cx="2286000" cy="1097280"/>
          </a:xfrm>
          <a:prstGeom prst="roundRect">
            <a:avLst/>
          </a:prstGeom>
          <a:solidFill>
            <a:srgbClr val="0066FF">
              <a:lumMod val="15000"/>
              <a:lumOff val="85000"/>
            </a:srgbClr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30175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25-35%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566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Platform Margin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2062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High operating leverage — platform costs don't scale linearly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303520"/>
            <a:ext cx="10972800" cy="914400"/>
          </a:xfrm>
          <a:prstGeom prst="roundRect">
            <a:avLst/>
          </a:prstGeom>
          <a:solidFill>
            <a:srgbClr val="0066FF">
              <a:lumMod val="15000"/>
              <a:lumOff val="85000"/>
            </a:srgbClr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At Scale: 10,000 services/day = $150K revenue, $40-50K margin/day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13 / 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FF"/>
                </a:solidFill>
              </a:defRPr>
            </a:pPr>
            <a: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Investment.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</a:defRPr>
            </a:pPr>
            <a:r>
              <a:t>$1.5M Seed to prove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926080"/>
            <a:ext cx="2286000" cy="1097280"/>
          </a:xfrm>
          <a:prstGeom prst="roundRect">
            <a:avLst/>
          </a:prstGeom>
          <a:solidFill>
            <a:srgbClr val="0066FF">
              <a:lumMod val="15000"/>
              <a:lumOff val="85000"/>
            </a:srgbClr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0175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$1.5M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66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Seed Round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926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FF"/>
                </a:solidFill>
              </a:defRPr>
            </a:pPr>
            <a:r>
              <a:t>Use of Funds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33832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Product (40%)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383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MVP app, API integrations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7490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Operations (30%)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749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Techs, training, equipment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114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Sales (20%)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4114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Enterprise BD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G&amp;A (10%)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4480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Legal, insurance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937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66FF"/>
                </a:solidFill>
              </a:defRPr>
            </a:pPr>
            <a:r>
              <a:t>18-Month Milestones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949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First Paid Contract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5394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Month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6A34A"/>
                </a:solidFill>
              </a:defRPr>
            </a:pPr>
            <a:r>
              <a:t>$10K+ MRR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806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Product-Market Fit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58064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Month 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806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6A34A"/>
                </a:solidFill>
              </a:defRPr>
            </a:pPr>
            <a:r>
              <a:t>$100K MRR, 3 cities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179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Series A Ready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6217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Month 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217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6A34A"/>
                </a:solidFill>
              </a:defRPr>
            </a:pPr>
            <a:r>
              <a:t>$300K MRR, 1,000+ vehicles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14 / EXIT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FF"/>
                </a:solidFill>
              </a:defRPr>
            </a:pPr>
            <a:r>
              <a:t>Exit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Returns.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</a:defRPr>
            </a:pPr>
            <a:r>
              <a:t>Three paths to liquidity.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926080"/>
            <a:ext cx="3474720" cy="2743200"/>
          </a:xfrm>
          <a:prstGeom prst="roundRect">
            <a:avLst/>
          </a:prstGeom>
          <a:solidFill>
            <a:srgbClr val="1E1E1E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6A34A"/>
                </a:solidFill>
              </a:defRPr>
            </a:pPr>
            <a:r>
              <a:t>Acquisition (Most Likely)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3-5 years, $100-500M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• Waymo (uses 6+ contractors)</a:t>
            </a:r>
            <a:br/>
            <a:r>
              <a:t>• Uber (just launched AV Services)</a:t>
            </a:r>
            <a:br/>
            <a:r>
              <a:t>• Amazon (owns Zoox)</a:t>
            </a:r>
            <a:br/>
            <a:br/>
            <a:r>
              <a:t>Comp: Zoox = $1.2B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2926080"/>
            <a:ext cx="3474720" cy="2743200"/>
          </a:xfrm>
          <a:prstGeom prst="roundRect">
            <a:avLst/>
          </a:prstGeom>
          <a:solidFill>
            <a:srgbClr val="1E1E1E"/>
          </a:solidFill>
          <a:ln>
            <a:solidFill>
              <a:srgbClr val="32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1089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Fleet Services Roll-Up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4-6 years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93192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• Enterprise Mobility</a:t>
            </a:r>
            <a:br/>
            <a:r>
              <a:t>• Cox Automotive</a:t>
            </a:r>
            <a:br/>
            <a:r>
              <a:t>• Fleetio ($1.5B valuation)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2926080"/>
            <a:ext cx="3474720" cy="2743200"/>
          </a:xfrm>
          <a:prstGeom prst="roundRect">
            <a:avLst/>
          </a:prstGeom>
          <a:solidFill>
            <a:srgbClr val="1E1E1E"/>
          </a:solidFill>
          <a:ln>
            <a:solidFill>
              <a:srgbClr val="32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59" y="31089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IPO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59" y="35661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7-10 years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59" y="393192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Expand beyond AV to ALL commercial fleet services.</a:t>
            </a:r>
            <a:br/>
            <a:br/>
            <a:r>
              <a:t>250K+ vehicles addressable today.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Waymo is valued at $126B. A $200M acquisition is a rounding error.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15 /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FF"/>
                </a:solidFill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Thank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The future of mobility needs infrastructure.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66666"/>
                </a:solidFill>
              </a:defRPr>
            </a:pPr>
            <a:r>
              <a:t>AUTONOMY, MAINTAINED.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Adonis Williams — Founder &amp; CEO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</a:defRPr>
            </a:pPr>
            <a:r>
              <a:t>Deputy Functional Chief Engineer, Boeing (14 years)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</a:defRPr>
            </a:pPr>
            <a:r>
              <a:t>MS Systems Engineering | 2 Patents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35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66FF"/>
                </a:solidFill>
              </a:defRPr>
            </a:pPr>
            <a:r>
              <a:t>adonis@motra.io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