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MOTRA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</a:defRPr>
            </a:pPr>
            <a:r>
              <a:t>Autonomy, Maintained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COMPANY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MOTRA is the infrastructure layer for autonomous vehicle fleet care.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We deploy a gig-powered network of mobile technicians to clean and service robotaxis on-location, on-demand.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Think AWS for autonomous fleet maintenance — invisible, essential, everywhere.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Autonomous vehicles run 24/7. Their maintenance infrastructure doesn't.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1. No driver = no eyes — Nobody notices trash, spills, or wear between rides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2. Depot-dependent — Vehicles must return to facilities for basic cleaning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3. Downtime = lost revenue — Every minute in depot is a ride not taken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4. Sensors are safety-critical — Dirty LiDAR/cameras = degraded driving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Current reality: Waymo hand-washes every vehicle at centralized depots.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That doesn't scale to millions of rides.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Mobile fleet care, dispatched like an Uber.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MOTRA deploys certified technicians directly to vehicles — wherever they are.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Quick Clean (5-10 min) — Between-ride wipe-down, trash removal, odor neutralization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Deep Clean (30-60 min) — Full interior detail, sensor cleaning, exterior wash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Maintenance — Light repairs, tire checks, fluid top-offs, emergency response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Result: Vehicles stay in service zones | Variable cost model | Scales instantly | 24/7 availability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robotaxi industry is hitting an inflection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Waymo Scale: 400K rides/week — targeting 1M/week by end of 2026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Fleet Growth: 2,500 vehicles today — "tens of thousands" planned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New Entrants: Tesla Robotaxi, Zoox, Cruise rebuild — all scaling 2026-2027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Gig Infrastructure: Uber/DoorDash proved the model — workforce is trained and ready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The window is NOW — before AV companies build in-house or a competitor emerges.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MARKET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$500M+ market emerging, scaling to $5B+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2560320" cy="1828800"/>
          </a:xfrm>
          <a:prstGeom prst="roundRect">
            <a:avLst/>
          </a:prstGeom>
          <a:solidFill>
            <a:srgbClr val="111111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66FF"/>
                </a:solidFill>
              </a:defRPr>
            </a:pPr>
            <a:r>
              <a:t>$547M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74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TAM 2028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2286000"/>
            <a:ext cx="2560320" cy="1828800"/>
          </a:xfrm>
          <a:prstGeom prst="roundRect">
            <a:avLst/>
          </a:prstGeom>
          <a:solidFill>
            <a:srgbClr val="111111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39" y="246888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66FF"/>
                </a:solidFill>
              </a:defRPr>
            </a:pPr>
            <a:r>
              <a:t>$2.2B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3474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TAM 2030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2286000"/>
            <a:ext cx="2560320" cy="1828800"/>
          </a:xfrm>
          <a:prstGeom prst="roundRect">
            <a:avLst/>
          </a:prstGeom>
          <a:solidFill>
            <a:srgbClr val="111111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79" y="246888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66FF"/>
                </a:solidFill>
              </a:defRPr>
            </a:pPr>
            <a:r>
              <a:t>$5.5B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3474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TAM 2032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19" y="2286000"/>
            <a:ext cx="2560320" cy="1828800"/>
          </a:xfrm>
          <a:prstGeom prst="roundRect">
            <a:avLst/>
          </a:prstGeom>
          <a:solidFill>
            <a:srgbClr val="111111"/>
          </a:solidFill>
          <a:ln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19" y="246888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66FF"/>
                </a:solidFill>
              </a:defRPr>
            </a:pPr>
            <a:r>
              <a:t>$2M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34747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66666"/>
                </a:solidFill>
              </a:defRPr>
            </a:pPr>
            <a:r>
              <a:t>Year 1 SOM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Blue ocean with fragmented alternatives.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AV In-House Ops → High fixed cost, doesn't scale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Traditional Fleet Services → Not mobile, not AV-specialized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Car Washes → Damages sensors, no interior service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Mobile Detailing → Not scaled, not fleet-focused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Our Advantages: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AV-Specialized (sensors, EVs, safety)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Mobile-First (go to the vehicle)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Gig-Powered (variable cost, instant scale)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First Mover (no scaled competitor exists)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Platform + Network + Expertise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For Fleet Operators: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Fleet Dashboard — real-time status, scheduling, quality metrics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API Integration — connects to existing fleet management systems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Analytics — predictive maintenance, cost tracking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For MOTRA Techs: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Mobile App — job dispatch, checklists, earnings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Certification — AV-specific training program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Equipment Kits — standardized tools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Roadmap: MVP Q3 2026 → Waymo API Q4 2026 → 3 Markets Q1 2027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Platform take-rate on every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Average service price: $15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Tech payout: $10-11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Platform margin: $4-5 (27-33%)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Services per tech per day: 15-20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Tech daily earnings: $150-220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At Scale: 10,000 services/day = $150K revenue, $40-50K margin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High operating leverage — platform costs don't scale linearly with services.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Built to win this market.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Adonis Williams — Founder &amp; CEO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Deputy Functional Chief Engineer at Boeing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Engineering Manager, Boeing Research &amp; Technology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Deep expertise in complex systems, fleet operations, and scaling infrastructure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Education: Missouri University of Science and Technology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Based in Seattle, WA — epicenter of tech and mobility innovation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Why We Win: Engineering Excellence • Systems Thinking • 100% Focus on AV Fleet Care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6FF"/>
                </a:solidFill>
              </a:defRPr>
            </a:pPr>
            <a:r>
              <a:t>FINANCIALS &amp;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22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Path to $10M ARR in 36 months.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Year 1: 1 market, 500 vehicles, $1.2M revenue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Year 2: 3 markets, 3,000 vehicles, $5.5M revenue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Year 3: 7 markets, 10,000 vehicles, $15M revenue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Seed Round: $1.5M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Use of Funds: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Product (40%) — App, API integrations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Operations (30%) — Techs, training, equipment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Sales (20%) — Enterprise BD</a:t>
            </a:r>
          </a:p>
          <a:p>
            <a:pPr>
              <a:spcAft>
                <a:spcPts val="1200"/>
              </a:spcAft>
              <a:defRPr sz="1800">
                <a:solidFill>
                  <a:srgbClr val="888888"/>
                </a:solidFill>
              </a:defRPr>
            </a:pPr>
            <a:r>
              <a:t>• G&amp;A (10%) — Legal, insurance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The future of mobility needs infrastructure.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</a:defRPr>
            </a:pPr>
            <a:r>
              <a:t>AUTONOMY, MAINTAINED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9144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BUSINESS MODEL CANVAS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502920"/>
            <a:ext cx="1719072" cy="2788920"/>
          </a:xfrm>
          <a:prstGeom prst="roundRect">
            <a:avLst/>
          </a:prstGeom>
          <a:solidFill>
            <a:srgbClr val="E8E4F0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KEY PARTNERS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" y="758952"/>
            <a:ext cx="158191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AV Ecosystem: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Waymo, Cruise, Zoox, Tesla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Fleet mgmt software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Gig Economy: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Existing gig platforms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Training providers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Equipment suppliers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Supporting: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Insurance providers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Background checks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Payment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1952" y="502920"/>
            <a:ext cx="1719072" cy="1371600"/>
          </a:xfrm>
          <a:prstGeom prst="roundRect">
            <a:avLst/>
          </a:prstGeom>
          <a:solidFill>
            <a:srgbClr val="E8E4F0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75104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KEY ACTIVITIES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758952"/>
            <a:ext cx="1581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Platform development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Tech recruitment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AV-specific training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Quality assurance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Enterprise 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01952" y="1920240"/>
            <a:ext cx="1719072" cy="1371600"/>
          </a:xfrm>
          <a:prstGeom prst="roundRect">
            <a:avLst/>
          </a:prstGeom>
          <a:solidFill>
            <a:srgbClr val="E8E4F0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75104" y="196596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KEY RESOURCES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2176272"/>
            <a:ext cx="1581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Technology: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Dispatch platform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Fleet dashboard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Technician app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Human: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Engineering team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Trained tech network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66744" y="502920"/>
            <a:ext cx="1719072" cy="2788920"/>
          </a:xfrm>
          <a:prstGeom prst="roundRect">
            <a:avLst/>
          </a:prstGeom>
          <a:solidFill>
            <a:srgbClr val="FCE4D6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9896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VALUE PROPOSITIONS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6" y="758952"/>
            <a:ext cx="158191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For Fleet Operators: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Reduce downtime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Variable cost model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Scale instantly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24/7 availability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API integration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vs. In-House: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50% cost reduction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30% more uptime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For Technicians: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Flexible gig work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$15-20/hour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31536" y="502920"/>
            <a:ext cx="1719072" cy="1371600"/>
          </a:xfrm>
          <a:prstGeom prst="roundRect">
            <a:avLst/>
          </a:prstGeom>
          <a:solidFill>
            <a:srgbClr val="FFF9E6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04688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CUSTOMER RELATIONSHIPS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758952"/>
            <a:ext cx="1581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Dedicated account mgrs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API integration support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Performance dashboards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SLA guarantees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24/7 support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31536" y="1920240"/>
            <a:ext cx="1719072" cy="1371600"/>
          </a:xfrm>
          <a:prstGeom prst="roundRect">
            <a:avLst/>
          </a:prstGeom>
          <a:solidFill>
            <a:srgbClr val="FFF9E6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4688" y="196596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CHANNELS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176272"/>
            <a:ext cx="1581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Acquisition: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Direct enterprise sales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Industry conferences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Delivery: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Fleet dashboard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API integration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Mobile dispatch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96328" y="502920"/>
            <a:ext cx="1719072" cy="2788920"/>
          </a:xfrm>
          <a:prstGeom prst="roundRect">
            <a:avLst/>
          </a:prstGeom>
          <a:solidFill>
            <a:srgbClr val="FFF9E6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548640"/>
            <a:ext cx="15819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CUSTOMER SEGMENTS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758952"/>
            <a:ext cx="158191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Primary: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Waymo (2,500+ vehicles)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Cruise (rebuilding)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Zoox (Amazon)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Tesla Robotaxi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Secondary: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Amazon Delivery EVs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FedEx/UPS electric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Buyers: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VP of Operations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• Fleet Ops Manager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" y="3337560"/>
            <a:ext cx="3483864" cy="914400"/>
          </a:xfrm>
          <a:prstGeom prst="roundRect">
            <a:avLst/>
          </a:prstGeom>
          <a:solidFill>
            <a:srgbClr val="F0F0F0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0312" y="3383280"/>
            <a:ext cx="33467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COST 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" y="3593592"/>
            <a:ext cx="33467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Variable: Tech payouts (65-70%), Payment processing (2-3%)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Fixed: Platform ($15-20K/mo), Team ($40-60K/mo), Marketing ($10-15K/mo)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Seed: $1.5M total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66744" y="3337560"/>
            <a:ext cx="5248656" cy="914400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3383280"/>
            <a:ext cx="51114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03366"/>
                </a:solidFill>
              </a:defRPr>
            </a:pPr>
            <a:r>
              <a:t>REVENUE STREAMS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39896" y="3593592"/>
            <a:ext cx="511149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Services: Quick ($12-18) | Deep ($45-75) | Emergency ($75-150)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Unit Economics: Avg $15/service, 30% margin ($4-5), Target 10K/day</a:t>
            </a:r>
          </a:p>
          <a:p>
            <a:pPr>
              <a:spcAft>
                <a:spcPts val="100"/>
              </a:spcAft>
              <a:defRPr sz="600">
                <a:solidFill>
                  <a:srgbClr val="323232"/>
                </a:solidFill>
              </a:defRPr>
            </a:pPr>
            <a:r>
              <a:t>Projections: Y1 $1.2M → Y2 $5.5M → Y3 $15M | TAM 2032: $5.5B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